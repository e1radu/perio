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306" r:id="rId2"/>
    <p:sldId id="307" r:id="rId3"/>
    <p:sldId id="279" r:id="rId4"/>
    <p:sldId id="300" r:id="rId5"/>
    <p:sldId id="301" r:id="rId6"/>
    <p:sldId id="302" r:id="rId7"/>
    <p:sldId id="303" r:id="rId8"/>
    <p:sldId id="305" r:id="rId9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AFD1F3-75E0-4F01-AC05-B2545EBC64FC}" v="115" dt="2026-05-21T13:51:19.4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7235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5117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30549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710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32623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71266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5263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43517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8928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02489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634987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41377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2371543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46567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015636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6980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1535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ED9E0B-E657-2F4E-DEAF-C0A7D2827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248797"/>
            <a:ext cx="8911687" cy="1656203"/>
          </a:xfrm>
        </p:spPr>
        <p:txBody>
          <a:bodyPr/>
          <a:lstStyle/>
          <a:p>
            <a:r>
              <a:rPr lang="en-GB" sz="2400"/>
              <a:t>Gingival periodontal indexes</a:t>
            </a:r>
          </a:p>
          <a:p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25ADE-6AE1-3B68-A667-9472FF411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0720" y="1053152"/>
            <a:ext cx="10695294" cy="568262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GB" sz="1400" b="1" dirty="0">
                <a:solidFill>
                  <a:schemeClr val="tx1"/>
                </a:solidFill>
                <a:ea typeface="+mn-lt"/>
                <a:cs typeface="+mn-lt"/>
              </a:rPr>
              <a:t>The Miller index / Miller classification of gingival recession: </a:t>
            </a:r>
            <a:r>
              <a:rPr lang="en-GB" sz="1400" dirty="0">
                <a:solidFill>
                  <a:schemeClr val="tx1"/>
                </a:solidFill>
                <a:ea typeface="+mn-lt"/>
                <a:cs typeface="+mn-lt"/>
              </a:rPr>
              <a:t>is used to classify gingival recession and to predict the possibility of root coverage after treatment.</a:t>
            </a:r>
            <a:endParaRPr lang="en-US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1400" b="1">
                <a:solidFill>
                  <a:schemeClr val="tx1"/>
                </a:solidFill>
              </a:rPr>
              <a:t>Class I--&gt;</a:t>
            </a:r>
            <a:r>
              <a:rPr lang="en-GB" sz="1400">
                <a:solidFill>
                  <a:schemeClr val="tx1"/>
                </a:solidFill>
              </a:rPr>
              <a:t>Recession</a:t>
            </a:r>
            <a:r>
              <a:rPr lang="en-GB" sz="1400" dirty="0">
                <a:solidFill>
                  <a:schemeClr val="tx1"/>
                </a:solidFill>
                <a:ea typeface="+mn-lt"/>
                <a:cs typeface="+mn-lt"/>
              </a:rPr>
              <a:t> does not reach the mucogingival junction.</a:t>
            </a:r>
            <a:br>
              <a:rPr lang="en-GB" sz="1400" dirty="0">
                <a:ea typeface="+mn-lt"/>
                <a:cs typeface="+mn-lt"/>
              </a:rPr>
            </a:br>
            <a:r>
              <a:rPr lang="en-GB" sz="1400" dirty="0">
                <a:solidFill>
                  <a:schemeClr val="tx1"/>
                </a:solidFill>
                <a:ea typeface="+mn-lt"/>
                <a:cs typeface="+mn-lt"/>
              </a:rPr>
              <a:t>There is no interdental bone loss and no interdental soft tissue loss.</a:t>
            </a:r>
            <a:endParaRPr lang="en-GB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Prognosis:</a:t>
            </a:r>
            <a:br>
              <a:rPr lang="en-GB" sz="1400" dirty="0">
                <a:ea typeface="+mn-lt"/>
                <a:cs typeface="+mn-lt"/>
              </a:rPr>
            </a:b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Complete root coverage is possible.</a:t>
            </a:r>
            <a:endParaRPr lang="en-GB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1400" b="1">
                <a:solidFill>
                  <a:schemeClr val="tx1"/>
                </a:solidFill>
              </a:rPr>
              <a:t>Class II --&gt;</a:t>
            </a:r>
            <a:r>
              <a:rPr lang="en-GB" sz="1400">
                <a:solidFill>
                  <a:schemeClr val="tx1"/>
                </a:solidFill>
              </a:rPr>
              <a:t>Recession</a:t>
            </a: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 reaches or extends beyond the mucogingival junction.</a:t>
            </a:r>
            <a:br>
              <a:rPr lang="en-GB" sz="1400" dirty="0">
                <a:ea typeface="+mn-lt"/>
                <a:cs typeface="+mn-lt"/>
              </a:rPr>
            </a:b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There is no interdental bone loss and no interdental soft tissue loss.</a:t>
            </a:r>
            <a:endParaRPr lang="en-GB" sz="14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Prognosis:</a:t>
            </a:r>
            <a:br>
              <a:rPr lang="en-GB" sz="1400" dirty="0">
                <a:ea typeface="+mn-lt"/>
                <a:cs typeface="+mn-lt"/>
              </a:rPr>
            </a:b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Complete root coverage is possible.</a:t>
            </a:r>
            <a:endParaRPr lang="en-GB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1400" b="1">
                <a:solidFill>
                  <a:schemeClr val="tx1"/>
                </a:solidFill>
              </a:rPr>
              <a:t>Class III--&gt;</a:t>
            </a:r>
            <a:r>
              <a:rPr lang="en-GB" sz="1400">
                <a:solidFill>
                  <a:schemeClr val="tx1"/>
                </a:solidFill>
              </a:rPr>
              <a:t>Recession</a:t>
            </a: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 reaches or extends beyond the mucogingival junction.</a:t>
            </a:r>
            <a:br>
              <a:rPr lang="en-GB" sz="1400" dirty="0">
                <a:ea typeface="+mn-lt"/>
                <a:cs typeface="+mn-lt"/>
              </a:rPr>
            </a:b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There is mild or moderate interdental bone or soft tissue loss.</a:t>
            </a:r>
            <a:br>
              <a:rPr lang="en-GB" sz="1400" dirty="0">
                <a:ea typeface="+mn-lt"/>
                <a:cs typeface="+mn-lt"/>
              </a:rPr>
            </a:b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Tooth malposition may also be present.</a:t>
            </a:r>
            <a:endParaRPr lang="en-GB" sz="14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Prognosis:</a:t>
            </a:r>
            <a:br>
              <a:rPr lang="en-GB" sz="1400" dirty="0">
                <a:ea typeface="+mn-lt"/>
                <a:cs typeface="+mn-lt"/>
              </a:rPr>
            </a:b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Partial root coverage is possible.</a:t>
            </a:r>
            <a:endParaRPr lang="en-US" sz="14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1400" b="1">
                <a:solidFill>
                  <a:schemeClr val="tx1"/>
                </a:solidFill>
              </a:rPr>
              <a:t>Class IV --&gt;</a:t>
            </a:r>
            <a:r>
              <a:rPr lang="en-GB" sz="1400">
                <a:solidFill>
                  <a:schemeClr val="tx1"/>
                </a:solidFill>
              </a:rPr>
              <a:t>Severe</a:t>
            </a: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 recession with severe interdental bone or soft tissue loss.</a:t>
            </a:r>
            <a:br>
              <a:rPr lang="en-GB" sz="1400" dirty="0">
                <a:ea typeface="+mn-lt"/>
                <a:cs typeface="+mn-lt"/>
              </a:rPr>
            </a:b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Severe tooth malposition may also be present.</a:t>
            </a:r>
            <a:endParaRPr lang="en-GB" sz="14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Prognosis:</a:t>
            </a:r>
            <a:br>
              <a:rPr lang="en-GB" sz="1400" dirty="0">
                <a:ea typeface="+mn-lt"/>
                <a:cs typeface="+mn-lt"/>
              </a:rPr>
            </a:b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Root coverage is poor or not predictable.</a:t>
            </a:r>
            <a:endParaRPr lang="en-GB" sz="14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GB" sz="1400" dirty="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9422F4-94A2-6184-E649-D746339F976D}"/>
              </a:ext>
            </a:extLst>
          </p:cNvPr>
          <p:cNvSpPr txBox="1"/>
          <p:nvPr/>
        </p:nvSpPr>
        <p:spPr>
          <a:xfrm>
            <a:off x="8381999" y="1924373"/>
            <a:ext cx="3577525" cy="427809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 b="1" dirty="0">
                <a:ea typeface="+mn-lt"/>
                <a:cs typeface="+mn-lt"/>
              </a:rPr>
              <a:t>Gingival recession</a:t>
            </a:r>
            <a:r>
              <a:rPr lang="en-GB" sz="1600" dirty="0">
                <a:ea typeface="+mn-lt"/>
                <a:cs typeface="+mn-lt"/>
              </a:rPr>
              <a:t> = distance from the </a:t>
            </a:r>
            <a:r>
              <a:rPr lang="en-GB" sz="1600" dirty="0" err="1">
                <a:ea typeface="+mn-lt"/>
                <a:cs typeface="+mn-lt"/>
              </a:rPr>
              <a:t>cemento</a:t>
            </a:r>
            <a:r>
              <a:rPr lang="en-GB" sz="1600" dirty="0">
                <a:ea typeface="+mn-lt"/>
                <a:cs typeface="+mn-lt"/>
              </a:rPr>
              <a:t>-enamel junction CEJ to the gingival margin</a:t>
            </a:r>
            <a:endParaRPr lang="en-US" sz="1600"/>
          </a:p>
          <a:p>
            <a:endParaRPr lang="en-GB" sz="1600" dirty="0">
              <a:ea typeface="+mn-lt"/>
              <a:cs typeface="+mn-lt"/>
            </a:endParaRPr>
          </a:p>
          <a:p>
            <a:r>
              <a:rPr lang="en-GB" sz="1600">
                <a:ea typeface="+mn-lt"/>
                <a:cs typeface="+mn-lt"/>
              </a:rPr>
              <a:t>Formula:</a:t>
            </a:r>
            <a:endParaRPr lang="en-GB" sz="1600" dirty="0"/>
          </a:p>
          <a:p>
            <a:r>
              <a:rPr lang="en-GB" sz="1600">
                <a:ea typeface="+mn-lt"/>
                <a:cs typeface="+mn-lt"/>
              </a:rPr>
              <a:t>GR = CEJ → gingival margin</a:t>
            </a:r>
            <a:endParaRPr lang="en-GB" sz="1600" dirty="0"/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If the gingival margin is apical to the CEJ, recession is present.</a:t>
            </a:r>
            <a:endParaRPr lang="en-GB" sz="1600" dirty="0"/>
          </a:p>
          <a:p>
            <a:pPr marL="285750" indent="-285750">
              <a:buFont typeface="Arial"/>
              <a:buChar char="•"/>
            </a:pPr>
            <a:r>
              <a:rPr lang="en-GB" sz="1600" dirty="0">
                <a:ea typeface="+mn-lt"/>
                <a:cs typeface="+mn-lt"/>
              </a:rPr>
              <a:t>The measurement is recorded in </a:t>
            </a:r>
            <a:r>
              <a:rPr lang="en-GB" sz="1600" dirty="0" err="1">
                <a:ea typeface="+mn-lt"/>
                <a:cs typeface="+mn-lt"/>
              </a:rPr>
              <a:t>millimeters</a:t>
            </a:r>
            <a:r>
              <a:rPr lang="en-GB" sz="1600" dirty="0">
                <a:ea typeface="+mn-lt"/>
                <a:cs typeface="+mn-lt"/>
              </a:rPr>
              <a:t> using a periodontal probe.</a:t>
            </a:r>
            <a:endParaRPr lang="en-GB" sz="1600" dirty="0"/>
          </a:p>
          <a:p>
            <a:pPr marL="285750" indent="-285750">
              <a:buFont typeface="Arial"/>
              <a:buChar char="•"/>
            </a:pPr>
            <a:endParaRPr lang="en-GB" sz="1600" dirty="0">
              <a:ea typeface="+mn-lt"/>
              <a:cs typeface="+mn-lt"/>
            </a:endParaRPr>
          </a:p>
          <a:p>
            <a:r>
              <a:rPr lang="en-GB" sz="1600" b="1">
                <a:ea typeface="+mn-lt"/>
                <a:cs typeface="+mn-lt"/>
              </a:rPr>
              <a:t>Example:</a:t>
            </a:r>
            <a:endParaRPr lang="en-GB" sz="1600" b="1" dirty="0"/>
          </a:p>
          <a:p>
            <a:r>
              <a:rPr lang="en-GB" sz="1600">
                <a:ea typeface="+mn-lt"/>
                <a:cs typeface="+mn-lt"/>
              </a:rPr>
              <a:t>CEJ to gingival margin = 3 mm</a:t>
            </a:r>
            <a:br>
              <a:rPr lang="en-GB" sz="1600" dirty="0">
                <a:ea typeface="+mn-lt"/>
                <a:cs typeface="+mn-lt"/>
              </a:rPr>
            </a:br>
            <a:r>
              <a:rPr lang="en-GB" sz="1600">
                <a:ea typeface="+mn-lt"/>
                <a:cs typeface="+mn-lt"/>
              </a:rPr>
              <a:t>→ Gingival recession = 3 mm</a:t>
            </a:r>
            <a:endParaRPr lang="en-GB" sz="1600" dirty="0"/>
          </a:p>
          <a:p>
            <a:pPr algn="l"/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154751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0A498-7E73-4F06-F1E0-A438A1FAB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2925" y="174872"/>
            <a:ext cx="8911687" cy="905576"/>
          </a:xfrm>
        </p:spPr>
        <p:txBody>
          <a:bodyPr>
            <a:normAutofit/>
          </a:bodyPr>
          <a:lstStyle/>
          <a:p>
            <a:r>
              <a:rPr lang="en-GB" sz="2400"/>
              <a:t>Gingival periodontal indexes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E0B3A-7AD7-D147-22D2-934B0C9E4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5839" y="1058839"/>
            <a:ext cx="9688773" cy="4852383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sz="1600" b="1">
                <a:solidFill>
                  <a:schemeClr val="tx1"/>
                </a:solidFill>
              </a:rPr>
              <a:t>Miller Index — Tooth Mobility:</a:t>
            </a:r>
          </a:p>
          <a:p>
            <a:pPr marL="0" indent="0">
              <a:buNone/>
            </a:pPr>
            <a:r>
              <a:rPr lang="en-GB" sz="1600">
                <a:solidFill>
                  <a:schemeClr val="tx1"/>
                </a:solidFill>
                <a:ea typeface="+mn-lt"/>
                <a:cs typeface="+mn-lt"/>
              </a:rPr>
              <a:t>Definition:</a:t>
            </a:r>
            <a:br>
              <a:rPr lang="en-GB" sz="1600" dirty="0">
                <a:ea typeface="+mn-lt"/>
                <a:cs typeface="+mn-lt"/>
              </a:rPr>
            </a:br>
            <a:r>
              <a:rPr lang="en-GB" sz="1600">
                <a:solidFill>
                  <a:schemeClr val="tx1"/>
                </a:solidFill>
                <a:ea typeface="+mn-lt"/>
                <a:cs typeface="+mn-lt"/>
              </a:rPr>
              <a:t>The Miller mobility index is used to assess the degree of tooth movement inside the socket. It helps evaluate periodontal support loss.</a:t>
            </a:r>
            <a:endParaRPr lang="en-GB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1600" dirty="0">
                <a:solidFill>
                  <a:schemeClr val="tx1"/>
                </a:solidFill>
                <a:ea typeface="+mn-lt"/>
                <a:cs typeface="+mn-lt"/>
              </a:rPr>
              <a:t>How to examine:</a:t>
            </a:r>
            <a:br>
              <a:rPr lang="en-GB" sz="1600" dirty="0">
                <a:ea typeface="+mn-lt"/>
                <a:cs typeface="+mn-lt"/>
              </a:rPr>
            </a:br>
            <a:r>
              <a:rPr lang="en-GB" sz="1600" dirty="0">
                <a:solidFill>
                  <a:schemeClr val="tx1"/>
                </a:solidFill>
                <a:ea typeface="+mn-lt"/>
                <a:cs typeface="+mn-lt"/>
              </a:rPr>
              <a:t>Tooth mobility is checked using the handles of two instruments, moving the tooth gently in </a:t>
            </a:r>
            <a:r>
              <a:rPr lang="en-GB" sz="1600" dirty="0" err="1">
                <a:solidFill>
                  <a:schemeClr val="tx1"/>
                </a:solidFill>
                <a:ea typeface="+mn-lt"/>
                <a:cs typeface="+mn-lt"/>
              </a:rPr>
              <a:t>bucco</a:t>
            </a:r>
            <a:r>
              <a:rPr lang="en-GB" sz="1600" dirty="0">
                <a:solidFill>
                  <a:schemeClr val="tx1"/>
                </a:solidFill>
                <a:ea typeface="+mn-lt"/>
                <a:cs typeface="+mn-lt"/>
              </a:rPr>
              <a:t>-lingual and </a:t>
            </a:r>
            <a:r>
              <a:rPr lang="en-GB" sz="1600" dirty="0" err="1">
                <a:solidFill>
                  <a:schemeClr val="tx1"/>
                </a:solidFill>
                <a:ea typeface="+mn-lt"/>
                <a:cs typeface="+mn-lt"/>
              </a:rPr>
              <a:t>mesio</a:t>
            </a:r>
            <a:r>
              <a:rPr lang="en-GB" sz="1600" dirty="0">
                <a:solidFill>
                  <a:schemeClr val="tx1"/>
                </a:solidFill>
                <a:ea typeface="+mn-lt"/>
                <a:cs typeface="+mn-lt"/>
              </a:rPr>
              <a:t>-distal directions.</a:t>
            </a:r>
            <a:endParaRPr lang="en-GB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1600">
                <a:solidFill>
                  <a:schemeClr val="tx1"/>
                </a:solidFill>
                <a:ea typeface="+mn-lt"/>
                <a:cs typeface="+mn-lt"/>
              </a:rPr>
              <a:t>Grades:</a:t>
            </a:r>
            <a:endParaRPr lang="en-GB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1600" b="1">
                <a:solidFill>
                  <a:schemeClr val="tx1"/>
                </a:solidFill>
                <a:ea typeface="+mn-lt"/>
                <a:cs typeface="+mn-lt"/>
              </a:rPr>
              <a:t>Grade 0</a:t>
            </a:r>
            <a:r>
              <a:rPr lang="en-GB" sz="1600">
                <a:solidFill>
                  <a:schemeClr val="tx1"/>
                </a:solidFill>
                <a:ea typeface="+mn-lt"/>
                <a:cs typeface="+mn-lt"/>
              </a:rPr>
              <a:t>: Normal physiological mobility, less than 0.2 mm.</a:t>
            </a:r>
            <a:endParaRPr lang="en-GB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1600" b="1">
                <a:solidFill>
                  <a:schemeClr val="tx1"/>
                </a:solidFill>
                <a:ea typeface="+mn-lt"/>
                <a:cs typeface="+mn-lt"/>
              </a:rPr>
              <a:t>Grade 1:</a:t>
            </a:r>
            <a:r>
              <a:rPr lang="en-GB" sz="1600">
                <a:solidFill>
                  <a:schemeClr val="tx1"/>
                </a:solidFill>
                <a:ea typeface="+mn-lt"/>
                <a:cs typeface="+mn-lt"/>
              </a:rPr>
              <a:t> Slight mobility, up to 1 mm horizontal movement.</a:t>
            </a:r>
            <a:endParaRPr lang="en-GB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1600" b="1">
                <a:solidFill>
                  <a:schemeClr val="tx1"/>
                </a:solidFill>
                <a:ea typeface="+mn-lt"/>
                <a:cs typeface="+mn-lt"/>
              </a:rPr>
              <a:t>Grade 2</a:t>
            </a:r>
            <a:r>
              <a:rPr lang="en-GB" sz="1600">
                <a:solidFill>
                  <a:schemeClr val="tx1"/>
                </a:solidFill>
                <a:ea typeface="+mn-lt"/>
                <a:cs typeface="+mn-lt"/>
              </a:rPr>
              <a:t>: Moderate mobility, more than 1 mm horizontal movement, without vertical movement.</a:t>
            </a:r>
            <a:endParaRPr lang="en-GB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1600" b="1">
                <a:solidFill>
                  <a:schemeClr val="tx1"/>
                </a:solidFill>
                <a:ea typeface="+mn-lt"/>
                <a:cs typeface="+mn-lt"/>
              </a:rPr>
              <a:t>Grade 3:</a:t>
            </a:r>
            <a:r>
              <a:rPr lang="en-GB" sz="1600">
                <a:solidFill>
                  <a:schemeClr val="tx1"/>
                </a:solidFill>
                <a:ea typeface="+mn-lt"/>
                <a:cs typeface="+mn-lt"/>
              </a:rPr>
              <a:t> Severe mobility, horizontal and vertical movement. The tooth can be depressed into the socket.</a:t>
            </a:r>
            <a:endParaRPr lang="en-GB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GB" sz="1600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GB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57351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4AEF19E-C1B3-A7CC-7BCB-F3CCD01B5967}"/>
              </a:ext>
            </a:extLst>
          </p:cNvPr>
          <p:cNvSpPr txBox="1"/>
          <p:nvPr/>
        </p:nvSpPr>
        <p:spPr>
          <a:xfrm>
            <a:off x="3760064" y="345281"/>
            <a:ext cx="6157841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400"/>
              <a:t>Gingival periodontal indexes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5FE6DB-A846-8D34-C666-D344C24550CA}"/>
              </a:ext>
            </a:extLst>
          </p:cNvPr>
          <p:cNvSpPr txBox="1"/>
          <p:nvPr/>
        </p:nvSpPr>
        <p:spPr>
          <a:xfrm>
            <a:off x="1534483" y="929931"/>
            <a:ext cx="10417614" cy="35702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buAutoNum type="alphaUcPeriod"/>
            </a:pPr>
            <a:r>
              <a:rPr lang="en-GB" sz="1600" b="1"/>
              <a:t>Gingival Index ; Loe and </a:t>
            </a:r>
            <a:r>
              <a:rPr lang="en-GB" sz="1600" b="1" err="1"/>
              <a:t>Silness</a:t>
            </a:r>
            <a:r>
              <a:rPr lang="en-GB" sz="1600" b="1"/>
              <a:t> Index : </a:t>
            </a:r>
            <a:r>
              <a:rPr lang="en-GB" sz="1600">
                <a:ea typeface="+mn-lt"/>
                <a:cs typeface="+mn-lt"/>
              </a:rPr>
              <a:t>is used to </a:t>
            </a:r>
            <a:r>
              <a:rPr lang="en-GB" sz="1600" b="1">
                <a:ea typeface="+mn-lt"/>
                <a:cs typeface="+mn-lt"/>
              </a:rPr>
              <a:t>measure the severity of gingivitis (gum inflammation)</a:t>
            </a:r>
            <a:r>
              <a:rPr lang="en-GB" sz="1600">
                <a:ea typeface="+mn-lt"/>
                <a:cs typeface="+mn-lt"/>
              </a:rPr>
              <a:t> by assessing colour, swelling, and bleeding of the gums.</a:t>
            </a:r>
            <a:endParaRPr lang="en-US" sz="1600"/>
          </a:p>
          <a:p>
            <a:endParaRPr lang="en-GB" sz="1600"/>
          </a:p>
          <a:p>
            <a:r>
              <a:rPr lang="en-GB" sz="1600" b="1">
                <a:ea typeface="+mn-lt"/>
                <a:cs typeface="+mn-lt"/>
              </a:rPr>
              <a:t>Scoring system:</a:t>
            </a:r>
            <a:endParaRPr lang="en-GB" sz="1600"/>
          </a:p>
          <a:p>
            <a:pPr marL="285750" indent="-285750">
              <a:buAutoNum type="alphaUcPeriod"/>
            </a:pPr>
            <a:r>
              <a:rPr lang="en-GB" sz="1600" b="1">
                <a:ea typeface="+mn-lt"/>
                <a:cs typeface="+mn-lt"/>
              </a:rPr>
              <a:t>0</a:t>
            </a:r>
            <a:r>
              <a:rPr lang="en-GB" sz="1600">
                <a:ea typeface="+mn-lt"/>
                <a:cs typeface="+mn-lt"/>
              </a:rPr>
              <a:t> = Normal gingiva (healthy gums)</a:t>
            </a:r>
            <a:endParaRPr lang="en-GB" sz="1600"/>
          </a:p>
          <a:p>
            <a:pPr marL="285750" indent="-285750">
              <a:buAutoNum type="alphaUcPeriod"/>
            </a:pPr>
            <a:r>
              <a:rPr lang="en-GB" sz="1600" b="1">
                <a:ea typeface="+mn-lt"/>
                <a:cs typeface="+mn-lt"/>
              </a:rPr>
              <a:t>1</a:t>
            </a:r>
            <a:r>
              <a:rPr lang="en-GB" sz="1600">
                <a:ea typeface="+mn-lt"/>
                <a:cs typeface="+mn-lt"/>
              </a:rPr>
              <a:t> = Mild inflammation, slight colour change, slight </a:t>
            </a:r>
            <a:r>
              <a:rPr lang="en-GB" sz="1600" err="1">
                <a:ea typeface="+mn-lt"/>
                <a:cs typeface="+mn-lt"/>
              </a:rPr>
              <a:t>edema</a:t>
            </a:r>
            <a:r>
              <a:rPr lang="en-GB" sz="1600">
                <a:ea typeface="+mn-lt"/>
                <a:cs typeface="+mn-lt"/>
              </a:rPr>
              <a:t>, </a:t>
            </a:r>
            <a:r>
              <a:rPr lang="en-GB" sz="1600" b="1">
                <a:ea typeface="+mn-lt"/>
                <a:cs typeface="+mn-lt"/>
              </a:rPr>
              <a:t>no bleeding on probing</a:t>
            </a:r>
            <a:endParaRPr lang="en-GB" sz="1600"/>
          </a:p>
          <a:p>
            <a:pPr marL="285750" indent="-285750">
              <a:buAutoNum type="alphaUcPeriod"/>
            </a:pPr>
            <a:r>
              <a:rPr lang="en-GB" sz="1600" b="1">
                <a:ea typeface="+mn-lt"/>
                <a:cs typeface="+mn-lt"/>
              </a:rPr>
              <a:t>2</a:t>
            </a:r>
            <a:r>
              <a:rPr lang="en-GB" sz="1600">
                <a:ea typeface="+mn-lt"/>
                <a:cs typeface="+mn-lt"/>
              </a:rPr>
              <a:t> = Moderate inflammation, redness, </a:t>
            </a:r>
            <a:r>
              <a:rPr lang="en-GB" sz="1600" err="1">
                <a:ea typeface="+mn-lt"/>
                <a:cs typeface="+mn-lt"/>
              </a:rPr>
              <a:t>edema</a:t>
            </a:r>
            <a:r>
              <a:rPr lang="en-GB" sz="1600">
                <a:ea typeface="+mn-lt"/>
                <a:cs typeface="+mn-lt"/>
              </a:rPr>
              <a:t>, </a:t>
            </a:r>
            <a:r>
              <a:rPr lang="en-GB" sz="1600" b="1">
                <a:ea typeface="+mn-lt"/>
                <a:cs typeface="+mn-lt"/>
              </a:rPr>
              <a:t>bleeding on probing</a:t>
            </a:r>
            <a:endParaRPr lang="en-GB" sz="1600"/>
          </a:p>
          <a:p>
            <a:pPr marL="285750" indent="-285750">
              <a:buAutoNum type="alphaUcPeriod"/>
            </a:pPr>
            <a:r>
              <a:rPr lang="en-GB" sz="1600" b="1">
                <a:ea typeface="+mn-lt"/>
                <a:cs typeface="+mn-lt"/>
              </a:rPr>
              <a:t>3</a:t>
            </a:r>
            <a:r>
              <a:rPr lang="en-GB" sz="1600">
                <a:ea typeface="+mn-lt"/>
                <a:cs typeface="+mn-lt"/>
              </a:rPr>
              <a:t> = Severe inflammation, marked redness/swelling, ulceration, </a:t>
            </a:r>
            <a:r>
              <a:rPr lang="en-GB" sz="1600" b="1">
                <a:ea typeface="+mn-lt"/>
                <a:cs typeface="+mn-lt"/>
              </a:rPr>
              <a:t>spontaneous bleeding</a:t>
            </a:r>
            <a:endParaRPr lang="en-GB" sz="1600"/>
          </a:p>
          <a:p>
            <a:pPr marL="285750" indent="-285750">
              <a:buAutoNum type="alphaUcPeriod"/>
            </a:pPr>
            <a:endParaRPr lang="en-GB" sz="1600" b="1">
              <a:ea typeface="+mn-lt"/>
              <a:cs typeface="+mn-lt"/>
            </a:endParaRPr>
          </a:p>
          <a:p>
            <a:r>
              <a:rPr lang="en-GB" sz="1600" b="1">
                <a:ea typeface="+mn-lt"/>
                <a:cs typeface="+mn-lt"/>
              </a:rPr>
              <a:t>Purpose:</a:t>
            </a:r>
            <a:br>
              <a:rPr lang="en-GB" sz="1600" b="1">
                <a:ea typeface="+mn-lt"/>
                <a:cs typeface="+mn-lt"/>
              </a:rPr>
            </a:br>
            <a:r>
              <a:rPr lang="en-GB" sz="1600">
                <a:ea typeface="+mn-lt"/>
                <a:cs typeface="+mn-lt"/>
              </a:rPr>
              <a:t>Helps evaluate gum inflammation and periodontal health.</a:t>
            </a:r>
            <a:endParaRPr lang="en-GB" sz="1600"/>
          </a:p>
          <a:p>
            <a:br>
              <a:rPr lang="en-US"/>
            </a:br>
            <a:endParaRPr lang="en-US" sz="1600"/>
          </a:p>
          <a:p>
            <a:endParaRPr lang="en-US" sz="16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086476-456E-DD87-FD6C-900BEF6C9429}"/>
              </a:ext>
            </a:extLst>
          </p:cNvPr>
          <p:cNvSpPr txBox="1"/>
          <p:nvPr/>
        </p:nvSpPr>
        <p:spPr>
          <a:xfrm>
            <a:off x="380999" y="3698619"/>
            <a:ext cx="11564831" cy="258532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                 </a:t>
            </a:r>
            <a:r>
              <a:rPr lang="en-GB" b="1"/>
              <a:t>          Maxilla                                                                                      Mandible</a:t>
            </a:r>
          </a:p>
          <a:p>
            <a:endParaRPr lang="en-GB" b="1"/>
          </a:p>
          <a:p>
            <a:r>
              <a:rPr lang="en-GB" b="1"/>
              <a:t>                     20/16---&gt;1.25                                                                             22/16---&gt;1.37</a:t>
            </a:r>
          </a:p>
          <a:p>
            <a:endParaRPr lang="en-GB" b="1"/>
          </a:p>
          <a:p>
            <a:r>
              <a:rPr lang="en-GB" b="1"/>
              <a:t>Calculation:  - </a:t>
            </a:r>
            <a:r>
              <a:rPr lang="en-GB" i="1"/>
              <a:t>each</a:t>
            </a:r>
            <a:r>
              <a:rPr lang="en-GB" i="1">
                <a:ea typeface="+mn-lt"/>
                <a:cs typeface="+mn-lt"/>
              </a:rPr>
              <a:t> tooth is examined at 4 surfaces</a:t>
            </a:r>
          </a:p>
          <a:p>
            <a:endParaRPr lang="en-GB" i="1">
              <a:ea typeface="+mn-lt"/>
              <a:cs typeface="+mn-lt"/>
            </a:endParaRPr>
          </a:p>
          <a:p>
            <a:r>
              <a:rPr lang="en-GB" i="1">
                <a:ea typeface="+mn-lt"/>
                <a:cs typeface="+mn-lt"/>
              </a:rPr>
              <a:t>            </a:t>
            </a:r>
            <a:r>
              <a:rPr lang="en-GB" b="1">
                <a:ea typeface="+mn-lt"/>
                <a:cs typeface="+mn-lt"/>
              </a:rPr>
              <a:t>Tooth GI-&gt;</a:t>
            </a:r>
            <a:r>
              <a:rPr lang="en-GB" i="1">
                <a:ea typeface="+mn-lt"/>
                <a:cs typeface="+mn-lt"/>
              </a:rPr>
              <a:t> Sum of all tooth score/4 </a:t>
            </a:r>
            <a:endParaRPr lang="en-GB"/>
          </a:p>
          <a:p>
            <a:endParaRPr lang="en-GB" i="1"/>
          </a:p>
          <a:p>
            <a:r>
              <a:rPr lang="en-GB"/>
              <a:t>             </a:t>
            </a:r>
            <a:r>
              <a:rPr lang="en-GB" b="1"/>
              <a:t>GI-&gt; </a:t>
            </a:r>
            <a:r>
              <a:rPr lang="en-GB"/>
              <a:t> - sum of all tooth scores/number of teeth examined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58A0B9E-39AB-5D37-0913-14B9AC4DE0C3}"/>
              </a:ext>
            </a:extLst>
          </p:cNvPr>
          <p:cNvSpPr txBox="1"/>
          <p:nvPr/>
        </p:nvSpPr>
        <p:spPr>
          <a:xfrm>
            <a:off x="8160774" y="4854677"/>
            <a:ext cx="3269225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Ex:            tooth 16</a:t>
            </a:r>
          </a:p>
          <a:p>
            <a:r>
              <a:rPr lang="en-GB"/>
              <a:t>4 bleeding sites score 2 for each side.</a:t>
            </a:r>
          </a:p>
          <a:p>
            <a:r>
              <a:rPr lang="en-GB"/>
              <a:t>Tooth GI:(2+2+2+2=8) \4 = 2</a:t>
            </a:r>
          </a:p>
          <a:p>
            <a:r>
              <a:rPr lang="en-GB"/>
              <a:t>GI: 2\1--&gt; 2</a:t>
            </a:r>
          </a:p>
        </p:txBody>
      </p:sp>
    </p:spTree>
    <p:extLst>
      <p:ext uri="{BB962C8B-B14F-4D97-AF65-F5344CB8AC3E}">
        <p14:creationId xmlns:p14="http://schemas.microsoft.com/office/powerpoint/2010/main" val="2646908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82D4E-B922-AE9E-683E-FBD4EF741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2387" y="157812"/>
            <a:ext cx="7922225" cy="1747188"/>
          </a:xfrm>
        </p:spPr>
        <p:txBody>
          <a:bodyPr/>
          <a:lstStyle/>
          <a:p>
            <a:r>
              <a:rPr lang="en-GB" sz="2400"/>
              <a:t>Gingival periodontal indexes</a:t>
            </a:r>
          </a:p>
          <a:p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E7C24E-46B2-5C90-4F01-D31CD4AECEFB}"/>
              </a:ext>
            </a:extLst>
          </p:cNvPr>
          <p:cNvSpPr txBox="1"/>
          <p:nvPr/>
        </p:nvSpPr>
        <p:spPr>
          <a:xfrm>
            <a:off x="1702593" y="762000"/>
            <a:ext cx="10298906" cy="40318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 b="1">
                <a:ea typeface="+mn-lt"/>
                <a:cs typeface="+mn-lt"/>
              </a:rPr>
              <a:t>B . The Papillary Bleeding Index (PBI) : </a:t>
            </a:r>
            <a:r>
              <a:rPr lang="en-GB" sz="1600">
                <a:ea typeface="+mn-lt"/>
                <a:cs typeface="+mn-lt"/>
              </a:rPr>
              <a:t> is a clinical index used to assess gingival inflammation by measuring bleeding from the interdental papilla (the gum between teeth) after gentle probing.</a:t>
            </a:r>
          </a:p>
          <a:p>
            <a:endParaRPr lang="en-GB" sz="1600">
              <a:ea typeface="+mn-lt"/>
              <a:cs typeface="+mn-lt"/>
            </a:endParaRPr>
          </a:p>
          <a:p>
            <a:r>
              <a:rPr lang="en-GB" sz="1600" b="1">
                <a:ea typeface="+mn-lt"/>
                <a:cs typeface="+mn-lt"/>
              </a:rPr>
              <a:t>Purpose:</a:t>
            </a:r>
            <a:endParaRPr lang="en-GB" sz="1600"/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Detects </a:t>
            </a:r>
            <a:r>
              <a:rPr lang="en-GB" sz="1600" b="1">
                <a:ea typeface="+mn-lt"/>
                <a:cs typeface="+mn-lt"/>
              </a:rPr>
              <a:t>early gingival inflammation</a:t>
            </a:r>
            <a:endParaRPr lang="en-GB" sz="1600"/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Evaluates </a:t>
            </a:r>
            <a:r>
              <a:rPr lang="en-GB" sz="1600" b="1">
                <a:ea typeface="+mn-lt"/>
                <a:cs typeface="+mn-lt"/>
              </a:rPr>
              <a:t>gingivitis severity</a:t>
            </a:r>
            <a:endParaRPr lang="en-GB" sz="1600"/>
          </a:p>
          <a:p>
            <a:pPr marL="285750" indent="-285750">
              <a:buFont typeface="Arial"/>
              <a:buChar char="•"/>
            </a:pPr>
            <a:r>
              <a:rPr lang="en-GB" sz="1600">
                <a:ea typeface="+mn-lt"/>
                <a:cs typeface="+mn-lt"/>
              </a:rPr>
              <a:t>Monitors response to </a:t>
            </a:r>
            <a:r>
              <a:rPr lang="en-GB" sz="1600" b="1">
                <a:ea typeface="+mn-lt"/>
                <a:cs typeface="+mn-lt"/>
              </a:rPr>
              <a:t>oral hygiene or periodontal treatment</a:t>
            </a:r>
            <a:endParaRPr lang="en-GB" sz="1600" b="1"/>
          </a:p>
          <a:p>
            <a:pPr marL="285750" indent="-285750">
              <a:buFont typeface="Arial"/>
              <a:buChar char="•"/>
            </a:pPr>
            <a:endParaRPr lang="en-GB" sz="1600" b="1"/>
          </a:p>
          <a:p>
            <a:r>
              <a:rPr lang="en-GB" sz="1600" b="1">
                <a:ea typeface="+mn-lt"/>
                <a:cs typeface="+mn-lt"/>
              </a:rPr>
              <a:t>Scoring system (0–4):</a:t>
            </a:r>
            <a:endParaRPr lang="en-GB" sz="1600"/>
          </a:p>
          <a:p>
            <a:pPr marL="285750" indent="-285750">
              <a:buFont typeface="Arial"/>
              <a:buChar char="•"/>
            </a:pPr>
            <a:r>
              <a:rPr lang="en-GB" sz="1600" b="1">
                <a:ea typeface="+mn-lt"/>
                <a:cs typeface="+mn-lt"/>
              </a:rPr>
              <a:t>0</a:t>
            </a:r>
            <a:r>
              <a:rPr lang="en-GB" sz="1600">
                <a:ea typeface="+mn-lt"/>
                <a:cs typeface="+mn-lt"/>
              </a:rPr>
              <a:t> = No bleeding</a:t>
            </a:r>
            <a:endParaRPr lang="en-GB" sz="1600"/>
          </a:p>
          <a:p>
            <a:pPr marL="285750" indent="-285750">
              <a:buFont typeface="Arial"/>
              <a:buChar char="•"/>
            </a:pPr>
            <a:r>
              <a:rPr lang="en-GB" sz="1600" b="1">
                <a:ea typeface="+mn-lt"/>
                <a:cs typeface="+mn-lt"/>
              </a:rPr>
              <a:t>1</a:t>
            </a:r>
            <a:r>
              <a:rPr lang="en-GB" sz="1600">
                <a:ea typeface="+mn-lt"/>
                <a:cs typeface="+mn-lt"/>
              </a:rPr>
              <a:t> = Single discreet bleeding point appears</a:t>
            </a:r>
            <a:endParaRPr lang="en-GB" sz="1600"/>
          </a:p>
          <a:p>
            <a:pPr marL="285750" indent="-285750">
              <a:buFont typeface="Arial"/>
              <a:buChar char="•"/>
            </a:pPr>
            <a:r>
              <a:rPr lang="en-GB" sz="1600" b="1">
                <a:ea typeface="+mn-lt"/>
                <a:cs typeface="+mn-lt"/>
              </a:rPr>
              <a:t>2</a:t>
            </a:r>
            <a:r>
              <a:rPr lang="en-GB" sz="1600">
                <a:ea typeface="+mn-lt"/>
                <a:cs typeface="+mn-lt"/>
              </a:rPr>
              <a:t> = Several isolated bleeding points or a fine line of blood appears</a:t>
            </a:r>
            <a:endParaRPr lang="en-GB" sz="1600"/>
          </a:p>
          <a:p>
            <a:pPr marL="285750" indent="-285750">
              <a:buFont typeface="Arial"/>
              <a:buChar char="•"/>
            </a:pPr>
            <a:r>
              <a:rPr lang="en-GB" sz="1600" b="1">
                <a:ea typeface="+mn-lt"/>
                <a:cs typeface="+mn-lt"/>
              </a:rPr>
              <a:t>3</a:t>
            </a:r>
            <a:r>
              <a:rPr lang="en-GB" sz="1600">
                <a:ea typeface="+mn-lt"/>
                <a:cs typeface="+mn-lt"/>
              </a:rPr>
              <a:t> = Interdental triangle fills with blood</a:t>
            </a:r>
            <a:endParaRPr lang="en-GB" sz="1600"/>
          </a:p>
          <a:p>
            <a:pPr marL="285750" indent="-285750">
              <a:buFont typeface="Arial"/>
              <a:buChar char="•"/>
            </a:pPr>
            <a:r>
              <a:rPr lang="en-GB" sz="1600" b="1">
                <a:ea typeface="+mn-lt"/>
                <a:cs typeface="+mn-lt"/>
              </a:rPr>
              <a:t>4</a:t>
            </a:r>
            <a:r>
              <a:rPr lang="en-GB" sz="1600">
                <a:ea typeface="+mn-lt"/>
                <a:cs typeface="+mn-lt"/>
              </a:rPr>
              <a:t> = Profuse/heavy bleeding immediately after probing</a:t>
            </a:r>
            <a:endParaRPr lang="en-GB" sz="1600"/>
          </a:p>
          <a:p>
            <a:endParaRPr lang="en-GB" sz="1600" b="1"/>
          </a:p>
          <a:p>
            <a:endParaRPr lang="en-GB" sz="16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04A0D4-4A57-9BE0-9217-F4F5D2BEEAAD}"/>
              </a:ext>
            </a:extLst>
          </p:cNvPr>
          <p:cNvSpPr txBox="1"/>
          <p:nvPr/>
        </p:nvSpPr>
        <p:spPr>
          <a:xfrm>
            <a:off x="1404936" y="4422596"/>
            <a:ext cx="10125690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                   </a:t>
            </a:r>
            <a:r>
              <a:rPr lang="en-GB" b="1"/>
              <a:t> </a:t>
            </a:r>
            <a:r>
              <a:rPr lang="en-GB" sz="1600" b="1"/>
              <a:t> Maxilla                                                             Mandible</a:t>
            </a:r>
          </a:p>
          <a:p>
            <a:endParaRPr lang="en-GB" sz="1600"/>
          </a:p>
          <a:p>
            <a:r>
              <a:rPr lang="en-GB" sz="1600"/>
              <a:t>                </a:t>
            </a:r>
            <a:r>
              <a:rPr lang="en-GB" sz="1600" b="1"/>
              <a:t>18/14---&gt; 1.28                                                   17/14---&gt; 1.21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885090-A9D5-A5F9-4340-B07EEC050F37}"/>
              </a:ext>
            </a:extLst>
          </p:cNvPr>
          <p:cNvSpPr txBox="1"/>
          <p:nvPr/>
        </p:nvSpPr>
        <p:spPr>
          <a:xfrm>
            <a:off x="1327355" y="5370871"/>
            <a:ext cx="8332838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/>
              <a:t>Calculation: PBI-&gt; </a:t>
            </a:r>
            <a:r>
              <a:rPr lang="en-GB"/>
              <a:t>Sum of papillary score/Number of papillae examined</a:t>
            </a:r>
          </a:p>
        </p:txBody>
      </p:sp>
    </p:spTree>
    <p:extLst>
      <p:ext uri="{BB962C8B-B14F-4D97-AF65-F5344CB8AC3E}">
        <p14:creationId xmlns:p14="http://schemas.microsoft.com/office/powerpoint/2010/main" val="3703977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082833-FD76-BF34-640F-118B8B930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9641" y="169185"/>
            <a:ext cx="7944971" cy="518890"/>
          </a:xfrm>
        </p:spPr>
        <p:txBody>
          <a:bodyPr/>
          <a:lstStyle/>
          <a:p>
            <a:r>
              <a:rPr lang="en-GB" sz="2400"/>
              <a:t>Gingival periodontal indexes</a:t>
            </a:r>
          </a:p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834FC8-EDED-99B0-B4A7-2D2B171C68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7989" y="910989"/>
            <a:ext cx="9836623" cy="580772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GB" b="1">
                <a:solidFill>
                  <a:schemeClr val="tx1"/>
                </a:solidFill>
              </a:rPr>
              <a:t>C . </a:t>
            </a:r>
            <a:r>
              <a:rPr lang="en-GB" b="1">
                <a:solidFill>
                  <a:schemeClr val="tx1"/>
                </a:solidFill>
                <a:ea typeface="+mn-lt"/>
                <a:cs typeface="+mn-lt"/>
              </a:rPr>
              <a:t>Gingival Bleeding Index (GBI)</a:t>
            </a:r>
            <a:r>
              <a:rPr lang="en-GB">
                <a:solidFill>
                  <a:schemeClr val="tx1"/>
                </a:solidFill>
                <a:ea typeface="+mn-lt"/>
                <a:cs typeface="+mn-lt"/>
              </a:rPr>
              <a:t> is a clinical index used to evaluate gingival inflammation by recording the presence or absence of bleeding after gentle probing of the gingival sulcus.</a:t>
            </a:r>
            <a:endParaRPr lang="en-GB">
              <a:solidFill>
                <a:schemeClr val="tx1"/>
              </a:solidFill>
            </a:endParaRPr>
          </a:p>
          <a:p>
            <a:pPr>
              <a:buNone/>
            </a:pPr>
            <a:r>
              <a:rPr lang="en-GB" b="1">
                <a:solidFill>
                  <a:schemeClr val="tx1"/>
                </a:solidFill>
                <a:ea typeface="+mn-lt"/>
                <a:cs typeface="+mn-lt"/>
              </a:rPr>
              <a:t>Purpose:</a:t>
            </a:r>
            <a:endParaRPr lang="en-GB">
              <a:solidFill>
                <a:schemeClr val="tx1"/>
              </a:solidFill>
            </a:endParaRPr>
          </a:p>
          <a:p>
            <a:pPr marL="285750" indent="-285750">
              <a:buFont typeface="Arial" charset="2"/>
              <a:buChar char="•"/>
            </a:pPr>
            <a:r>
              <a:rPr lang="en-GB">
                <a:solidFill>
                  <a:schemeClr val="tx1"/>
                </a:solidFill>
                <a:ea typeface="+mn-lt"/>
                <a:cs typeface="+mn-lt"/>
              </a:rPr>
              <a:t>Detects </a:t>
            </a:r>
            <a:r>
              <a:rPr lang="en-GB" b="1">
                <a:solidFill>
                  <a:schemeClr val="tx1"/>
                </a:solidFill>
                <a:ea typeface="+mn-lt"/>
                <a:cs typeface="+mn-lt"/>
              </a:rPr>
              <a:t>early gingival inflammation</a:t>
            </a:r>
            <a:endParaRPr lang="en-GB">
              <a:solidFill>
                <a:schemeClr val="tx1"/>
              </a:solidFill>
            </a:endParaRPr>
          </a:p>
          <a:p>
            <a:pPr marL="285750" indent="-285750">
              <a:buFont typeface="Arial" charset="2"/>
              <a:buChar char="•"/>
            </a:pPr>
            <a:r>
              <a:rPr lang="en-GB">
                <a:solidFill>
                  <a:schemeClr val="tx1"/>
                </a:solidFill>
                <a:ea typeface="+mn-lt"/>
                <a:cs typeface="+mn-lt"/>
              </a:rPr>
              <a:t>Assesses </a:t>
            </a:r>
            <a:r>
              <a:rPr lang="en-GB" b="1">
                <a:solidFill>
                  <a:schemeClr val="tx1"/>
                </a:solidFill>
                <a:ea typeface="+mn-lt"/>
                <a:cs typeface="+mn-lt"/>
              </a:rPr>
              <a:t>oral hygiene effectiveness</a:t>
            </a:r>
            <a:endParaRPr lang="en-GB">
              <a:solidFill>
                <a:schemeClr val="tx1"/>
              </a:solidFill>
            </a:endParaRPr>
          </a:p>
          <a:p>
            <a:pPr marL="285750" indent="-285750">
              <a:buFont typeface="Arial" charset="2"/>
              <a:buChar char="•"/>
            </a:pPr>
            <a:r>
              <a:rPr lang="en-GB">
                <a:solidFill>
                  <a:schemeClr val="tx1"/>
                </a:solidFill>
                <a:ea typeface="+mn-lt"/>
                <a:cs typeface="+mn-lt"/>
              </a:rPr>
              <a:t>Helps monitor </a:t>
            </a:r>
            <a:r>
              <a:rPr lang="en-GB" b="1">
                <a:solidFill>
                  <a:schemeClr val="tx1"/>
                </a:solidFill>
                <a:ea typeface="+mn-lt"/>
                <a:cs typeface="+mn-lt"/>
              </a:rPr>
              <a:t>gingivitis and periodontal treatment outcomes</a:t>
            </a:r>
            <a:endParaRPr lang="en-GB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b="1">
                <a:solidFill>
                  <a:schemeClr val="tx1"/>
                </a:solidFill>
                <a:ea typeface="+mn-lt"/>
                <a:cs typeface="+mn-lt"/>
              </a:rPr>
              <a:t>Scoring system:</a:t>
            </a:r>
            <a:endParaRPr lang="en-GB" b="1">
              <a:solidFill>
                <a:schemeClr val="tx1"/>
              </a:solidFill>
            </a:endParaRPr>
          </a:p>
          <a:p>
            <a:pPr>
              <a:buFont typeface="Arial" charset="2"/>
              <a:buChar char="•"/>
            </a:pPr>
            <a:r>
              <a:rPr lang="en-GB" b="1">
                <a:solidFill>
                  <a:schemeClr val="tx1"/>
                </a:solidFill>
                <a:ea typeface="+mn-lt"/>
                <a:cs typeface="+mn-lt"/>
              </a:rPr>
              <a:t>0</a:t>
            </a:r>
            <a:r>
              <a:rPr lang="en-GB">
                <a:solidFill>
                  <a:schemeClr val="tx1"/>
                </a:solidFill>
                <a:ea typeface="+mn-lt"/>
                <a:cs typeface="+mn-lt"/>
              </a:rPr>
              <a:t> = </a:t>
            </a:r>
            <a:r>
              <a:rPr lang="en-GB" b="1">
                <a:solidFill>
                  <a:schemeClr val="tx1"/>
                </a:solidFill>
                <a:ea typeface="+mn-lt"/>
                <a:cs typeface="+mn-lt"/>
              </a:rPr>
              <a:t>No bleeding</a:t>
            </a:r>
            <a:r>
              <a:rPr lang="en-GB">
                <a:solidFill>
                  <a:schemeClr val="tx1"/>
                </a:solidFill>
                <a:ea typeface="+mn-lt"/>
                <a:cs typeface="+mn-lt"/>
              </a:rPr>
              <a:t> after probing/flossing</a:t>
            </a:r>
            <a:endParaRPr lang="en-GB">
              <a:solidFill>
                <a:schemeClr val="tx1"/>
              </a:solidFill>
            </a:endParaRPr>
          </a:p>
          <a:p>
            <a:pPr>
              <a:buFont typeface="Arial" charset="2"/>
              <a:buChar char="•"/>
            </a:pPr>
            <a:r>
              <a:rPr lang="en-GB" b="1">
                <a:solidFill>
                  <a:schemeClr val="tx1"/>
                </a:solidFill>
                <a:ea typeface="+mn-lt"/>
                <a:cs typeface="+mn-lt"/>
              </a:rPr>
              <a:t>1</a:t>
            </a:r>
            <a:r>
              <a:rPr lang="en-GB">
                <a:solidFill>
                  <a:schemeClr val="tx1"/>
                </a:solidFill>
                <a:ea typeface="+mn-lt"/>
                <a:cs typeface="+mn-lt"/>
              </a:rPr>
              <a:t> = </a:t>
            </a:r>
            <a:r>
              <a:rPr lang="en-GB" b="1">
                <a:solidFill>
                  <a:schemeClr val="tx1"/>
                </a:solidFill>
                <a:ea typeface="+mn-lt"/>
                <a:cs typeface="+mn-lt"/>
              </a:rPr>
              <a:t>Bleeding present</a:t>
            </a:r>
            <a:r>
              <a:rPr lang="en-GB">
                <a:solidFill>
                  <a:schemeClr val="tx1"/>
                </a:solidFill>
                <a:ea typeface="+mn-lt"/>
                <a:cs typeface="+mn-lt"/>
              </a:rPr>
              <a:t> after probing/flossing</a:t>
            </a:r>
            <a:endParaRPr lang="en-GB">
              <a:solidFill>
                <a:schemeClr val="tx1"/>
              </a:solidFill>
            </a:endParaRPr>
          </a:p>
          <a:p>
            <a:pPr>
              <a:buFont typeface="Arial" charset="2"/>
              <a:buChar char="•"/>
            </a:pPr>
            <a:r>
              <a:rPr lang="en-GB">
                <a:solidFill>
                  <a:schemeClr val="tx1"/>
                </a:solidFill>
                <a:ea typeface="+mn-lt"/>
                <a:cs typeface="+mn-lt"/>
              </a:rPr>
              <a:t>each tooth is examined on </a:t>
            </a:r>
            <a:r>
              <a:rPr lang="en-GB" b="1">
                <a:solidFill>
                  <a:schemeClr val="tx1"/>
                </a:solidFill>
                <a:ea typeface="+mn-lt"/>
                <a:cs typeface="+mn-lt"/>
              </a:rPr>
              <a:t>4 surfaces</a:t>
            </a:r>
            <a:endParaRPr lang="en-GB">
              <a:solidFill>
                <a:schemeClr val="tx1"/>
              </a:solidFill>
              <a:ea typeface="+mn-lt"/>
              <a:cs typeface="+mn-lt"/>
            </a:endParaRPr>
          </a:p>
          <a:p>
            <a:pPr>
              <a:buFont typeface="Arial" charset="2"/>
              <a:buChar char="•"/>
            </a:pPr>
            <a:r>
              <a:rPr lang="en-GB">
                <a:solidFill>
                  <a:schemeClr val="tx1"/>
                </a:solidFill>
                <a:ea typeface="+mn-lt"/>
                <a:cs typeface="+mn-lt"/>
              </a:rPr>
              <a:t>Some versions report the result as a </a:t>
            </a:r>
            <a:r>
              <a:rPr lang="en-GB" b="1">
                <a:solidFill>
                  <a:schemeClr val="tx1"/>
                </a:solidFill>
                <a:ea typeface="+mn-lt"/>
                <a:cs typeface="+mn-lt"/>
              </a:rPr>
              <a:t>percentage of bleeding sites</a:t>
            </a:r>
            <a:r>
              <a:rPr lang="en-GB">
                <a:solidFill>
                  <a:schemeClr val="tx1"/>
                </a:solidFill>
                <a:ea typeface="+mn-lt"/>
                <a:cs typeface="+mn-lt"/>
              </a:rPr>
              <a:t>:</a:t>
            </a:r>
            <a:endParaRPr lang="en-GB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>
                <a:solidFill>
                  <a:schemeClr val="tx1"/>
                </a:solidFill>
                <a:ea typeface="+mn-lt"/>
                <a:cs typeface="+mn-lt"/>
              </a:rPr>
              <a:t>GBI = (Number of bleeding sites / total sited examined ) X 100 </a:t>
            </a:r>
          </a:p>
          <a:p>
            <a:pPr marL="0" indent="0">
              <a:buNone/>
            </a:pPr>
            <a:r>
              <a:rPr lang="en-GB">
                <a:solidFill>
                  <a:schemeClr val="tx1"/>
                </a:solidFill>
                <a:ea typeface="+mn-lt"/>
                <a:cs typeface="+mn-lt"/>
              </a:rPr>
              <a:t>                       </a:t>
            </a:r>
            <a:r>
              <a:rPr lang="en-GB" b="1">
                <a:solidFill>
                  <a:schemeClr val="tx1"/>
                </a:solidFill>
                <a:ea typeface="+mn-lt"/>
                <a:cs typeface="+mn-lt"/>
              </a:rPr>
              <a:t>Maxilla                                                              Mandible </a:t>
            </a:r>
          </a:p>
          <a:p>
            <a:pPr marL="0" indent="0">
              <a:buNone/>
            </a:pPr>
            <a:r>
              <a:rPr lang="en-GB">
                <a:solidFill>
                  <a:schemeClr val="tx1"/>
                </a:solidFill>
                <a:ea typeface="+mn-lt"/>
                <a:cs typeface="+mn-lt"/>
              </a:rPr>
              <a:t>   </a:t>
            </a:r>
            <a:r>
              <a:rPr lang="en-GB">
                <a:solidFill>
                  <a:schemeClr val="tx1"/>
                </a:solidFill>
              </a:rPr>
              <a:t>          </a:t>
            </a:r>
            <a:r>
              <a:rPr lang="en-GB" b="1">
                <a:solidFill>
                  <a:schemeClr val="tx1"/>
                </a:solidFill>
              </a:rPr>
              <a:t>23/64x100---&gt;35%                                               21/64x100---&gt;32%</a:t>
            </a:r>
          </a:p>
          <a:p>
            <a:pPr marL="0" indent="0">
              <a:buNone/>
            </a:pPr>
            <a:endParaRPr lang="en-GB" b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490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BDB48-948E-AB76-B38D-918864695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82387" y="123693"/>
            <a:ext cx="7922225" cy="922636"/>
          </a:xfrm>
        </p:spPr>
        <p:txBody>
          <a:bodyPr>
            <a:normAutofit/>
          </a:bodyPr>
          <a:lstStyle/>
          <a:p>
            <a:r>
              <a:rPr lang="en-GB" sz="2400"/>
              <a:t>Gingival periodontal indexes</a:t>
            </a:r>
          </a:p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38B88-DD2F-4929-2926-0B70F0E88A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9556" y="615287"/>
            <a:ext cx="9865056" cy="5295935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indent="0">
              <a:buNone/>
            </a:pPr>
            <a:r>
              <a:rPr lang="en-GB" sz="2000" b="1">
                <a:solidFill>
                  <a:schemeClr val="tx1"/>
                </a:solidFill>
              </a:rPr>
              <a:t>D. Gingival growth index: </a:t>
            </a:r>
            <a:r>
              <a:rPr lang="en-GB">
                <a:solidFill>
                  <a:schemeClr val="tx1"/>
                </a:solidFill>
                <a:ea typeface="+mn-lt"/>
                <a:cs typeface="+mn-lt"/>
              </a:rPr>
              <a:t>The Gingival Growth Index (GGI) is a clinical index used to measure the degree of gingival enlargement (gingival overgrowth/hyperplasia) around teeth.</a:t>
            </a:r>
          </a:p>
          <a:p>
            <a:pPr marL="0" indent="0">
              <a:buNone/>
            </a:pPr>
            <a:r>
              <a:rPr lang="en-GB">
                <a:solidFill>
                  <a:schemeClr val="tx1"/>
                </a:solidFill>
                <a:ea typeface="+mn-lt"/>
                <a:cs typeface="+mn-lt"/>
              </a:rPr>
              <a:t>It is commonly used to evaluate drug-induced gingival overgrowth (for example with medications such as Phenytoin, Cyclosporine, or Nifedipine) and gingival enlargement associated with inflammation.</a:t>
            </a:r>
            <a:endParaRPr lang="en-GB">
              <a:solidFill>
                <a:schemeClr val="tx1"/>
              </a:solidFill>
            </a:endParaRPr>
          </a:p>
          <a:p>
            <a:pPr>
              <a:buNone/>
            </a:pPr>
            <a:r>
              <a:rPr lang="en-GB" b="1">
                <a:solidFill>
                  <a:schemeClr val="tx1"/>
                </a:solidFill>
                <a:ea typeface="+mn-lt"/>
                <a:cs typeface="+mn-lt"/>
              </a:rPr>
              <a:t>Purpose:</a:t>
            </a:r>
            <a:endParaRPr lang="en-GB">
              <a:solidFill>
                <a:schemeClr val="tx1"/>
              </a:solidFill>
            </a:endParaRPr>
          </a:p>
          <a:p>
            <a:pPr>
              <a:buFont typeface="Wingdings 3"/>
              <a:buChar char=""/>
            </a:pPr>
            <a:r>
              <a:rPr lang="en-GB">
                <a:solidFill>
                  <a:schemeClr val="tx1"/>
                </a:solidFill>
                <a:ea typeface="+mn-lt"/>
                <a:cs typeface="+mn-lt"/>
              </a:rPr>
              <a:t>Measures severity of gingival enlargement</a:t>
            </a:r>
            <a:endParaRPr lang="en-GB">
              <a:solidFill>
                <a:schemeClr val="tx1"/>
              </a:solidFill>
            </a:endParaRPr>
          </a:p>
          <a:p>
            <a:pPr>
              <a:buFont typeface="Wingdings 3"/>
              <a:buChar char=""/>
            </a:pPr>
            <a:r>
              <a:rPr lang="en-GB">
                <a:solidFill>
                  <a:schemeClr val="tx1"/>
                </a:solidFill>
                <a:ea typeface="+mn-lt"/>
                <a:cs typeface="+mn-lt"/>
              </a:rPr>
              <a:t>Monitors progression of gingival hyperplasia/overgrowth</a:t>
            </a:r>
            <a:endParaRPr lang="en-GB">
              <a:solidFill>
                <a:schemeClr val="tx1"/>
              </a:solidFill>
            </a:endParaRPr>
          </a:p>
          <a:p>
            <a:pPr>
              <a:buFont typeface="Wingdings 3"/>
              <a:buChar char=""/>
            </a:pPr>
            <a:r>
              <a:rPr lang="en-GB">
                <a:solidFill>
                  <a:schemeClr val="tx1"/>
                </a:solidFill>
                <a:ea typeface="+mn-lt"/>
                <a:cs typeface="+mn-lt"/>
              </a:rPr>
              <a:t>Assesses response to periodontal treatment or medication changes</a:t>
            </a:r>
            <a:endParaRPr lang="en-GB">
              <a:solidFill>
                <a:schemeClr val="tx1"/>
              </a:solidFill>
            </a:endParaRPr>
          </a:p>
          <a:p>
            <a:pPr>
              <a:buNone/>
            </a:pPr>
            <a:r>
              <a:rPr lang="en-GB" b="1">
                <a:solidFill>
                  <a:schemeClr val="tx1"/>
                </a:solidFill>
                <a:ea typeface="+mn-lt"/>
                <a:cs typeface="+mn-lt"/>
              </a:rPr>
              <a:t>Scoring system (commonly used 0–3 scale):</a:t>
            </a:r>
            <a:endParaRPr lang="en-GB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b="1">
                <a:solidFill>
                  <a:schemeClr val="tx1"/>
                </a:solidFill>
                <a:ea typeface="+mn-lt"/>
                <a:cs typeface="+mn-lt"/>
              </a:rPr>
              <a:t>0</a:t>
            </a:r>
            <a:r>
              <a:rPr lang="en-GB">
                <a:solidFill>
                  <a:schemeClr val="tx1"/>
                </a:solidFill>
                <a:ea typeface="+mn-lt"/>
                <a:cs typeface="+mn-lt"/>
              </a:rPr>
              <a:t> = No gingival growth/enlargement</a:t>
            </a:r>
            <a:endParaRPr lang="en-GB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b="1">
                <a:solidFill>
                  <a:schemeClr val="tx1"/>
                </a:solidFill>
                <a:ea typeface="+mn-lt"/>
                <a:cs typeface="+mn-lt"/>
              </a:rPr>
              <a:t>1</a:t>
            </a:r>
            <a:r>
              <a:rPr lang="en-GB">
                <a:solidFill>
                  <a:schemeClr val="tx1"/>
                </a:solidFill>
                <a:ea typeface="+mn-lt"/>
                <a:cs typeface="+mn-lt"/>
              </a:rPr>
              <a:t> = Mild enlargement, limited to interdental papilla</a:t>
            </a:r>
            <a:endParaRPr lang="en-GB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b="1">
                <a:solidFill>
                  <a:schemeClr val="tx1"/>
                </a:solidFill>
                <a:ea typeface="+mn-lt"/>
                <a:cs typeface="+mn-lt"/>
              </a:rPr>
              <a:t>2</a:t>
            </a:r>
            <a:r>
              <a:rPr lang="en-GB">
                <a:solidFill>
                  <a:schemeClr val="tx1"/>
                </a:solidFill>
                <a:ea typeface="+mn-lt"/>
                <a:cs typeface="+mn-lt"/>
              </a:rPr>
              <a:t> = Moderate enlargement, involving papilla and marginal gingiva</a:t>
            </a:r>
            <a:endParaRPr lang="en-GB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b="1">
                <a:solidFill>
                  <a:schemeClr val="tx1"/>
                </a:solidFill>
                <a:ea typeface="+mn-lt"/>
                <a:cs typeface="+mn-lt"/>
              </a:rPr>
              <a:t>3</a:t>
            </a:r>
            <a:r>
              <a:rPr lang="en-GB">
                <a:solidFill>
                  <a:schemeClr val="tx1"/>
                </a:solidFill>
                <a:ea typeface="+mn-lt"/>
                <a:cs typeface="+mn-lt"/>
              </a:rPr>
              <a:t> = Severe enlargement, covering a large portion of the tooth crown</a:t>
            </a:r>
            <a:endParaRPr lang="en-GB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GB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b="1">
                <a:solidFill>
                  <a:schemeClr val="tx1"/>
                </a:solidFill>
                <a:ea typeface="+mn-lt"/>
                <a:cs typeface="+mn-lt"/>
              </a:rPr>
              <a:t>            Maxilla                                                                                                         Mandible</a:t>
            </a:r>
          </a:p>
          <a:p>
            <a:pPr marL="0" indent="0">
              <a:buNone/>
            </a:pPr>
            <a:r>
              <a:rPr lang="en-GB" b="1">
                <a:solidFill>
                  <a:schemeClr val="tx1"/>
                </a:solidFill>
                <a:ea typeface="+mn-lt"/>
                <a:cs typeface="+mn-lt"/>
              </a:rPr>
              <a:t>         Grade---&gt; 0                                                                                                  Grade---&gt; 0</a:t>
            </a:r>
          </a:p>
          <a:p>
            <a:pPr indent="0">
              <a:buNone/>
            </a:pPr>
            <a:endParaRPr lang="en-GB" b="1">
              <a:solidFill>
                <a:schemeClr val="tx1"/>
              </a:solidFill>
              <a:ea typeface="+mn-lt"/>
              <a:cs typeface="+mn-lt"/>
            </a:endParaRPr>
          </a:p>
          <a:p>
            <a:pPr marL="0" indent="0">
              <a:buNone/>
            </a:pPr>
            <a:endParaRPr lang="en-GB">
              <a:solidFill>
                <a:schemeClr val="tx1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839836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86EF3-F170-EE0E-208F-179E8861B9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8059" y="100946"/>
            <a:ext cx="8206553" cy="1804054"/>
          </a:xfrm>
        </p:spPr>
        <p:txBody>
          <a:bodyPr/>
          <a:lstStyle/>
          <a:p>
            <a:r>
              <a:rPr lang="en-GB" sz="2400"/>
              <a:t>Gingival periodontal indexes</a:t>
            </a:r>
            <a:endParaRPr lang="en-US" sz="2400"/>
          </a:p>
          <a:p>
            <a:endParaRPr lang="en-GB"/>
          </a:p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5401D4-D071-BD04-0D49-C5B0D7B3C4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42885" y="575481"/>
            <a:ext cx="9961727" cy="606362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GB" sz="1400" b="1" err="1">
                <a:solidFill>
                  <a:schemeClr val="tx1"/>
                </a:solidFill>
              </a:rPr>
              <a:t>E.</a:t>
            </a:r>
            <a:r>
              <a:rPr lang="en-GB" sz="1400" b="1" err="1">
                <a:solidFill>
                  <a:schemeClr val="tx1"/>
                </a:solidFill>
                <a:ea typeface="+mn-lt"/>
                <a:cs typeface="+mn-lt"/>
              </a:rPr>
              <a:t>The</a:t>
            </a:r>
            <a:r>
              <a:rPr lang="en-GB" sz="1400" b="1">
                <a:solidFill>
                  <a:schemeClr val="tx1"/>
                </a:solidFill>
                <a:ea typeface="+mn-lt"/>
                <a:cs typeface="+mn-lt"/>
              </a:rPr>
              <a:t> Community Periodontal Index of Treatment Needs (CPITN)</a:t>
            </a: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 is an index used to screen periodontal health and determine the treatment needed for periodontal disease in individuals or populations.</a:t>
            </a:r>
          </a:p>
          <a:p>
            <a:pPr>
              <a:buNone/>
            </a:pPr>
            <a:r>
              <a:rPr lang="en-GB" sz="1400" b="1">
                <a:solidFill>
                  <a:schemeClr val="tx1"/>
                </a:solidFill>
              </a:rPr>
              <a:t>Purpose:</a:t>
            </a:r>
          </a:p>
          <a:p>
            <a:pPr>
              <a:buFont typeface="Wingdings 3"/>
              <a:buChar char=""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Rapid periodontal screening</a:t>
            </a:r>
            <a:endParaRPr lang="en-GB" sz="1400">
              <a:solidFill>
                <a:schemeClr val="tx1"/>
              </a:solidFill>
            </a:endParaRPr>
          </a:p>
          <a:p>
            <a:pPr>
              <a:buFont typeface="Wingdings 3"/>
              <a:buChar char=""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Determines periodontal treatment needs</a:t>
            </a:r>
            <a:endParaRPr lang="en-GB" sz="1400">
              <a:solidFill>
                <a:schemeClr val="tx1"/>
              </a:solidFill>
            </a:endParaRPr>
          </a:p>
          <a:p>
            <a:pPr>
              <a:buFont typeface="Wingdings 3"/>
              <a:buChar char=""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Used in epidemiological surveys and public health studies</a:t>
            </a:r>
            <a:endParaRPr lang="en-GB" sz="1400">
              <a:solidFill>
                <a:schemeClr val="tx1"/>
              </a:solidFill>
            </a:endParaRPr>
          </a:p>
          <a:p>
            <a:pPr>
              <a:buFont typeface="Wingdings 3"/>
              <a:buChar char=""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Helps identify gingivitis and periodontitis severity</a:t>
            </a:r>
            <a:endParaRPr lang="en-GB" sz="1400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sz="1400" b="1">
                <a:solidFill>
                  <a:schemeClr val="tx1"/>
                </a:solidFill>
              </a:rPr>
              <a:t>CPITN Scoring System (Codes 0–4):</a:t>
            </a:r>
          </a:p>
          <a:p>
            <a:pPr>
              <a:buFont typeface="Wingdings 3"/>
              <a:buChar char=""/>
            </a:pPr>
            <a:r>
              <a:rPr lang="en-GB" sz="1400" b="1">
                <a:solidFill>
                  <a:schemeClr val="tx1"/>
                </a:solidFill>
                <a:ea typeface="+mn-lt"/>
                <a:cs typeface="+mn-lt"/>
              </a:rPr>
              <a:t>Code 0</a:t>
            </a: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 = Healthy periodontal tissues</a:t>
            </a:r>
            <a:endParaRPr lang="en-GB" sz="1400">
              <a:solidFill>
                <a:schemeClr val="tx1"/>
              </a:solidFill>
            </a:endParaRPr>
          </a:p>
          <a:p>
            <a:pPr lvl="1">
              <a:buFont typeface="Wingdings 3"/>
              <a:buChar char=""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No bleeding, calculus, or pockets</a:t>
            </a:r>
            <a:endParaRPr lang="en-GB" sz="1400">
              <a:solidFill>
                <a:schemeClr val="tx1"/>
              </a:solidFill>
            </a:endParaRPr>
          </a:p>
          <a:p>
            <a:pPr lvl="1">
              <a:buFont typeface="Wingdings 3"/>
              <a:buChar char=""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Treatment need (TN 0): No treatment</a:t>
            </a:r>
            <a:endParaRPr lang="en-GB" sz="1400">
              <a:solidFill>
                <a:schemeClr val="tx1"/>
              </a:solidFill>
            </a:endParaRPr>
          </a:p>
          <a:p>
            <a:pPr>
              <a:buFont typeface="Wingdings 3"/>
              <a:buChar char=""/>
            </a:pPr>
            <a:r>
              <a:rPr lang="en-GB" sz="1400" b="1">
                <a:solidFill>
                  <a:schemeClr val="tx1"/>
                </a:solidFill>
                <a:ea typeface="+mn-lt"/>
                <a:cs typeface="+mn-lt"/>
              </a:rPr>
              <a:t>Code 1</a:t>
            </a: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 = Bleeding on probing</a:t>
            </a:r>
            <a:endParaRPr lang="en-GB" sz="1400">
              <a:solidFill>
                <a:schemeClr val="tx1"/>
              </a:solidFill>
            </a:endParaRPr>
          </a:p>
          <a:p>
            <a:pPr lvl="1">
              <a:buFont typeface="Wingdings 3"/>
              <a:buChar char=""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Bleeding present after probing</a:t>
            </a:r>
            <a:endParaRPr lang="en-GB" sz="1400">
              <a:solidFill>
                <a:schemeClr val="tx1"/>
              </a:solidFill>
            </a:endParaRPr>
          </a:p>
          <a:p>
            <a:pPr lvl="1">
              <a:buFont typeface="Wingdings 3"/>
              <a:buChar char=""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Treatment need (TN 1): Oral hygiene instruction</a:t>
            </a:r>
            <a:endParaRPr lang="en-GB" sz="1400">
              <a:solidFill>
                <a:schemeClr val="tx1"/>
              </a:solidFill>
            </a:endParaRPr>
          </a:p>
          <a:p>
            <a:pPr>
              <a:buFont typeface="Wingdings 3"/>
              <a:buChar char=""/>
            </a:pPr>
            <a:r>
              <a:rPr lang="en-GB" sz="1400" b="1">
                <a:solidFill>
                  <a:schemeClr val="tx1"/>
                </a:solidFill>
                <a:ea typeface="+mn-lt"/>
                <a:cs typeface="+mn-lt"/>
              </a:rPr>
              <a:t>Code 2</a:t>
            </a: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 = Calculus or plaque-retentive factors present</a:t>
            </a:r>
            <a:endParaRPr lang="en-GB" sz="1400">
              <a:solidFill>
                <a:schemeClr val="tx1"/>
              </a:solidFill>
            </a:endParaRPr>
          </a:p>
          <a:p>
            <a:pPr lvl="1">
              <a:buFont typeface="Wingdings 3"/>
              <a:buChar char=""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Calculus, defective restorations, etc.</a:t>
            </a:r>
            <a:endParaRPr lang="en-GB" sz="1400">
              <a:solidFill>
                <a:schemeClr val="tx1"/>
              </a:solidFill>
            </a:endParaRPr>
          </a:p>
          <a:p>
            <a:pPr lvl="1">
              <a:buFont typeface="Wingdings 3"/>
              <a:buChar char=""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Pocket depth still </a:t>
            </a:r>
            <a:r>
              <a:rPr lang="en-GB" sz="1400" b="1">
                <a:solidFill>
                  <a:schemeClr val="tx1"/>
                </a:solidFill>
                <a:ea typeface="+mn-lt"/>
                <a:cs typeface="+mn-lt"/>
              </a:rPr>
              <a:t>&lt;</a:t>
            </a: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 3.5 mm</a:t>
            </a:r>
            <a:endParaRPr lang="en-GB" sz="1400">
              <a:solidFill>
                <a:schemeClr val="tx1"/>
              </a:solidFill>
            </a:endParaRPr>
          </a:p>
          <a:p>
            <a:pPr lvl="1">
              <a:buFont typeface="Wingdings 3"/>
              <a:buChar char=""/>
            </a:pPr>
            <a:r>
              <a:rPr lang="en-GB" sz="1400">
                <a:solidFill>
                  <a:schemeClr val="tx1"/>
                </a:solidFill>
                <a:ea typeface="+mn-lt"/>
                <a:cs typeface="+mn-lt"/>
              </a:rPr>
              <a:t>Treatment need (TN 2): Oral hygiene instruction + scaling</a:t>
            </a:r>
            <a:endParaRPr lang="en-GB" sz="140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GB" sz="1400">
              <a:solidFill>
                <a:schemeClr val="tx1"/>
              </a:solidFill>
            </a:endParaRPr>
          </a:p>
          <a:p>
            <a:pPr>
              <a:buFont typeface="Wingdings 3"/>
              <a:buChar char=""/>
            </a:pPr>
            <a:endParaRPr lang="en-GB" sz="1400" b="1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GB" sz="140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8F86C7-956C-7EF0-85D0-CCF2BB0B411A}"/>
              </a:ext>
            </a:extLst>
          </p:cNvPr>
          <p:cNvSpPr txBox="1"/>
          <p:nvPr/>
        </p:nvSpPr>
        <p:spPr>
          <a:xfrm>
            <a:off x="7056496" y="1153484"/>
            <a:ext cx="4810125" cy="24570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spcBef>
                <a:spcPts val="1000"/>
              </a:spcBef>
              <a:buFont typeface="Wingdings 3,Sans-Serif"/>
              <a:buChar char=""/>
            </a:pPr>
            <a:r>
              <a:rPr lang="en-GB" sz="1400" b="1"/>
              <a:t>Code 3</a:t>
            </a:r>
            <a:r>
              <a:rPr lang="en-GB" sz="1400"/>
              <a:t> = Shallow periodontal pockets (4–5 mm)</a:t>
            </a:r>
          </a:p>
          <a:p>
            <a:pPr marL="742950" lvl="1" indent="-285750">
              <a:spcBef>
                <a:spcPts val="1000"/>
              </a:spcBef>
              <a:buFont typeface="Wingdings 3,Sans-Serif"/>
              <a:buChar char=""/>
            </a:pPr>
            <a:r>
              <a:rPr lang="en-GB" sz="1400" err="1"/>
              <a:t>Colored</a:t>
            </a:r>
            <a:r>
              <a:rPr lang="en-GB" sz="1400"/>
              <a:t> band partly visible</a:t>
            </a:r>
          </a:p>
          <a:p>
            <a:pPr marL="742950" lvl="1" indent="-285750">
              <a:spcBef>
                <a:spcPts val="1000"/>
              </a:spcBef>
              <a:buFont typeface="Wingdings 3,Sans-Serif"/>
              <a:buChar char=""/>
            </a:pPr>
            <a:r>
              <a:rPr lang="en-GB" sz="1400"/>
              <a:t>Treatment need (TN 2/TN 3)</a:t>
            </a:r>
            <a:r>
              <a:rPr lang="en-GB" sz="1400" b="1"/>
              <a:t>:</a:t>
            </a:r>
            <a:r>
              <a:rPr lang="en-GB" sz="1400"/>
              <a:t> Professional cleaning and periodontal treatment</a:t>
            </a:r>
          </a:p>
          <a:p>
            <a:pPr marL="285750" indent="-285750">
              <a:spcBef>
                <a:spcPts val="1000"/>
              </a:spcBef>
              <a:buFont typeface="Wingdings 3,Sans-Serif"/>
              <a:buChar char=""/>
            </a:pPr>
            <a:r>
              <a:rPr lang="en-GB" sz="1400" b="1"/>
              <a:t>Code 4</a:t>
            </a:r>
            <a:r>
              <a:rPr lang="en-GB" sz="1400"/>
              <a:t> = Deep periodontal pockets (≥ 6 mm)</a:t>
            </a:r>
          </a:p>
          <a:p>
            <a:pPr marL="742950" lvl="1" indent="-285750">
              <a:spcBef>
                <a:spcPts val="1000"/>
              </a:spcBef>
              <a:buFont typeface="Wingdings 3,Sans-Serif"/>
              <a:buChar char=""/>
            </a:pPr>
            <a:r>
              <a:rPr lang="en-GB" sz="1400" err="1"/>
              <a:t>Colored</a:t>
            </a:r>
            <a:r>
              <a:rPr lang="en-GB" sz="1400"/>
              <a:t> band completely disappears</a:t>
            </a:r>
          </a:p>
          <a:p>
            <a:pPr marL="742950" lvl="1" indent="-285750">
              <a:spcBef>
                <a:spcPts val="1000"/>
              </a:spcBef>
              <a:buFont typeface="Wingdings 3,Sans-Serif"/>
              <a:buChar char=""/>
            </a:pPr>
            <a:r>
              <a:rPr lang="en-GB" sz="1400"/>
              <a:t>Treatment need (TN 3): Complex periodontal treatment</a:t>
            </a:r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5A709C-E594-25C2-29B9-BC5E21E22026}"/>
              </a:ext>
            </a:extLst>
          </p:cNvPr>
          <p:cNvSpPr txBox="1"/>
          <p:nvPr/>
        </p:nvSpPr>
        <p:spPr>
          <a:xfrm>
            <a:off x="7094347" y="3833812"/>
            <a:ext cx="5074691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/>
              <a:t>    </a:t>
            </a:r>
            <a:r>
              <a:rPr lang="en-GB" b="1"/>
              <a:t> Maxilla </a:t>
            </a:r>
            <a:r>
              <a:rPr lang="en-GB"/>
              <a:t>                              </a:t>
            </a:r>
            <a:r>
              <a:rPr lang="en-GB" b="1"/>
              <a:t>  Mandible</a:t>
            </a:r>
            <a:endParaRPr lang="en-US"/>
          </a:p>
          <a:p>
            <a:endParaRPr lang="en-GB"/>
          </a:p>
          <a:p>
            <a:r>
              <a:rPr lang="en-GB"/>
              <a:t>Sextant 1---&gt;1                       Sextant 4---&gt;1</a:t>
            </a:r>
          </a:p>
          <a:p>
            <a:r>
              <a:rPr lang="en-GB"/>
              <a:t>Sextant 2---&gt;2                       Sextant 5---&gt;2</a:t>
            </a:r>
          </a:p>
          <a:p>
            <a:r>
              <a:rPr lang="en-GB"/>
              <a:t>Sextant 3---&gt;1                       Sextant 6---&gt;1</a:t>
            </a:r>
          </a:p>
        </p:txBody>
      </p:sp>
    </p:spTree>
    <p:extLst>
      <p:ext uri="{BB962C8B-B14F-4D97-AF65-F5344CB8AC3E}">
        <p14:creationId xmlns:p14="http://schemas.microsoft.com/office/powerpoint/2010/main" val="1541792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25145B-04DA-47A0-8A4F-D6D8B7DDB8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1999" y="9962"/>
            <a:ext cx="7842613" cy="1895038"/>
          </a:xfrm>
        </p:spPr>
        <p:txBody>
          <a:bodyPr/>
          <a:lstStyle/>
          <a:p>
            <a:r>
              <a:rPr lang="en-GB" sz="2400"/>
              <a:t>Gingival periodontal indexes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78349B-54E0-D60F-58FA-204C7F95CA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03079" y="586855"/>
            <a:ext cx="10001533" cy="6410500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GB" b="1">
                <a:solidFill>
                  <a:schemeClr val="tx1"/>
                </a:solidFill>
              </a:rPr>
              <a:t>F: Mobility index </a:t>
            </a:r>
            <a:r>
              <a:rPr lang="en-GB">
                <a:solidFill>
                  <a:schemeClr val="tx1"/>
                </a:solidFill>
                <a:ea typeface="+mn-lt"/>
                <a:cs typeface="+mn-lt"/>
              </a:rPr>
              <a:t> is a clinical method used to assess the degree of movement of a tooth within its socket, which is an important sign of periodontal support loss.</a:t>
            </a:r>
          </a:p>
          <a:p>
            <a:pPr>
              <a:buNone/>
            </a:pPr>
            <a:r>
              <a:rPr lang="en-GB" b="1">
                <a:solidFill>
                  <a:schemeClr val="tx1"/>
                </a:solidFill>
              </a:rPr>
              <a:t>Purpose:</a:t>
            </a:r>
          </a:p>
          <a:p>
            <a:pPr>
              <a:buFont typeface="Wingdings 3"/>
              <a:buChar char=""/>
            </a:pPr>
            <a:r>
              <a:rPr lang="en-GB">
                <a:solidFill>
                  <a:schemeClr val="tx1"/>
                </a:solidFill>
                <a:ea typeface="+mn-lt"/>
                <a:cs typeface="+mn-lt"/>
              </a:rPr>
              <a:t>Evaluates severity of periodontal attachment loss</a:t>
            </a:r>
            <a:endParaRPr lang="en-GB">
              <a:solidFill>
                <a:schemeClr val="tx1"/>
              </a:solidFill>
            </a:endParaRPr>
          </a:p>
          <a:p>
            <a:pPr>
              <a:buFont typeface="Wingdings 3"/>
              <a:buChar char=""/>
            </a:pPr>
            <a:r>
              <a:rPr lang="en-GB">
                <a:solidFill>
                  <a:schemeClr val="tx1"/>
                </a:solidFill>
                <a:ea typeface="+mn-lt"/>
                <a:cs typeface="+mn-lt"/>
              </a:rPr>
              <a:t>Helps in diagnosing advanced periodontitis</a:t>
            </a:r>
            <a:endParaRPr lang="en-GB">
              <a:solidFill>
                <a:schemeClr val="tx1"/>
              </a:solidFill>
            </a:endParaRPr>
          </a:p>
          <a:p>
            <a:pPr>
              <a:buFont typeface="Wingdings 3"/>
              <a:buChar char=""/>
            </a:pPr>
            <a:r>
              <a:rPr lang="en-GB">
                <a:solidFill>
                  <a:schemeClr val="tx1"/>
                </a:solidFill>
                <a:ea typeface="+mn-lt"/>
                <a:cs typeface="+mn-lt"/>
              </a:rPr>
              <a:t>Guides treatment planning (splinting, extraction, periodontal therapy)</a:t>
            </a:r>
            <a:endParaRPr lang="en-GB">
              <a:solidFill>
                <a:schemeClr val="tx1"/>
              </a:solidFill>
            </a:endParaRPr>
          </a:p>
          <a:p>
            <a:pPr>
              <a:buFont typeface="Wingdings 3"/>
              <a:buChar char=""/>
            </a:pPr>
            <a:r>
              <a:rPr lang="en-GB">
                <a:solidFill>
                  <a:schemeClr val="tx1"/>
                </a:solidFill>
                <a:ea typeface="+mn-lt"/>
                <a:cs typeface="+mn-lt"/>
              </a:rPr>
              <a:t>Monitors tooth stability over time</a:t>
            </a:r>
            <a:endParaRPr lang="en-GB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GB" b="1">
                <a:solidFill>
                  <a:schemeClr val="tx1"/>
                </a:solidFill>
              </a:rPr>
              <a:t>Scoring System (0–3)</a:t>
            </a:r>
          </a:p>
          <a:p>
            <a:pPr>
              <a:buFont typeface="Wingdings 3"/>
              <a:buChar char=""/>
            </a:pPr>
            <a:r>
              <a:rPr lang="en-GB" b="1">
                <a:solidFill>
                  <a:schemeClr val="tx1"/>
                </a:solidFill>
                <a:ea typeface="+mn-lt"/>
                <a:cs typeface="+mn-lt"/>
              </a:rPr>
              <a:t>Grade 0 (Normal physiological mobility)</a:t>
            </a:r>
            <a:endParaRPr lang="en-GB">
              <a:solidFill>
                <a:schemeClr val="tx1"/>
              </a:solidFill>
            </a:endParaRPr>
          </a:p>
          <a:p>
            <a:pPr lvl="1">
              <a:buFont typeface="Wingdings 3"/>
              <a:buChar char=""/>
            </a:pPr>
            <a:r>
              <a:rPr lang="en-GB">
                <a:solidFill>
                  <a:schemeClr val="tx1"/>
                </a:solidFill>
                <a:ea typeface="+mn-lt"/>
                <a:cs typeface="+mn-lt"/>
              </a:rPr>
              <a:t>Slight movement within physiological limits</a:t>
            </a:r>
            <a:endParaRPr lang="en-GB">
              <a:solidFill>
                <a:schemeClr val="tx1"/>
              </a:solidFill>
            </a:endParaRPr>
          </a:p>
          <a:p>
            <a:pPr lvl="1">
              <a:buFont typeface="Wingdings 3"/>
              <a:buChar char=""/>
            </a:pPr>
            <a:r>
              <a:rPr lang="en-GB">
                <a:solidFill>
                  <a:schemeClr val="tx1"/>
                </a:solidFill>
                <a:ea typeface="+mn-lt"/>
                <a:cs typeface="+mn-lt"/>
              </a:rPr>
              <a:t>(Usually &lt; 0.2 mm)</a:t>
            </a:r>
            <a:endParaRPr lang="en-GB">
              <a:solidFill>
                <a:schemeClr val="tx1"/>
              </a:solidFill>
            </a:endParaRPr>
          </a:p>
          <a:p>
            <a:pPr>
              <a:buFont typeface="Wingdings 3"/>
              <a:buChar char=""/>
            </a:pPr>
            <a:r>
              <a:rPr lang="en-GB" b="1">
                <a:solidFill>
                  <a:schemeClr val="tx1"/>
                </a:solidFill>
                <a:ea typeface="+mn-lt"/>
                <a:cs typeface="+mn-lt"/>
              </a:rPr>
              <a:t>Grade 1 (Slight mobility)</a:t>
            </a:r>
            <a:endParaRPr lang="en-GB">
              <a:solidFill>
                <a:schemeClr val="tx1"/>
              </a:solidFill>
            </a:endParaRPr>
          </a:p>
          <a:p>
            <a:pPr lvl="1">
              <a:buFont typeface="Wingdings 3"/>
              <a:buChar char=""/>
            </a:pPr>
            <a:r>
              <a:rPr lang="en-GB">
                <a:solidFill>
                  <a:schemeClr val="tx1"/>
                </a:solidFill>
                <a:ea typeface="+mn-lt"/>
                <a:cs typeface="+mn-lt"/>
              </a:rPr>
              <a:t>Movement up to 1 mm horizontally</a:t>
            </a:r>
            <a:endParaRPr lang="en-GB">
              <a:solidFill>
                <a:schemeClr val="tx1"/>
              </a:solidFill>
            </a:endParaRPr>
          </a:p>
          <a:p>
            <a:pPr>
              <a:buFont typeface="Wingdings 3"/>
              <a:buChar char=""/>
            </a:pPr>
            <a:r>
              <a:rPr lang="en-GB" b="1">
                <a:solidFill>
                  <a:schemeClr val="tx1"/>
                </a:solidFill>
                <a:ea typeface="+mn-lt"/>
                <a:cs typeface="+mn-lt"/>
              </a:rPr>
              <a:t>Grade 2 (Moderate mobility)</a:t>
            </a:r>
            <a:endParaRPr lang="en-GB">
              <a:solidFill>
                <a:schemeClr val="tx1"/>
              </a:solidFill>
            </a:endParaRPr>
          </a:p>
          <a:p>
            <a:pPr lvl="1">
              <a:buFont typeface="Wingdings 3"/>
              <a:buChar char=""/>
            </a:pPr>
            <a:r>
              <a:rPr lang="en-GB">
                <a:solidFill>
                  <a:schemeClr val="tx1"/>
                </a:solidFill>
                <a:ea typeface="+mn-lt"/>
                <a:cs typeface="+mn-lt"/>
              </a:rPr>
              <a:t>Movement &gt; 1 mm horizontally, but no vertical movement</a:t>
            </a:r>
            <a:endParaRPr lang="en-GB">
              <a:solidFill>
                <a:schemeClr val="tx1"/>
              </a:solidFill>
            </a:endParaRPr>
          </a:p>
          <a:p>
            <a:pPr>
              <a:buFont typeface="Wingdings 3"/>
              <a:buChar char=""/>
            </a:pPr>
            <a:r>
              <a:rPr lang="en-GB" b="1">
                <a:solidFill>
                  <a:schemeClr val="tx1"/>
                </a:solidFill>
                <a:ea typeface="+mn-lt"/>
                <a:cs typeface="+mn-lt"/>
              </a:rPr>
              <a:t>Grade 3 (Severe mobility)</a:t>
            </a:r>
            <a:endParaRPr lang="en-GB">
              <a:solidFill>
                <a:schemeClr val="tx1"/>
              </a:solidFill>
            </a:endParaRPr>
          </a:p>
          <a:p>
            <a:pPr lvl="1">
              <a:buFont typeface="Wingdings 3"/>
              <a:buChar char=""/>
            </a:pPr>
            <a:r>
              <a:rPr lang="en-GB">
                <a:solidFill>
                  <a:schemeClr val="tx1"/>
                </a:solidFill>
                <a:ea typeface="+mn-lt"/>
                <a:cs typeface="+mn-lt"/>
              </a:rPr>
              <a:t>Movement in horizontal and vertical direction (depressible in socket)</a:t>
            </a:r>
            <a:endParaRPr lang="en-GB">
              <a:solidFill>
                <a:schemeClr val="tx1"/>
              </a:solidFill>
            </a:endParaRPr>
          </a:p>
          <a:p>
            <a:pPr>
              <a:buFont typeface="Wingdings 3"/>
              <a:buChar char=""/>
            </a:pPr>
            <a:endParaRPr lang="en-GB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GB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682D75F-44C1-27AF-C8DE-D8E83C273F84}"/>
              </a:ext>
            </a:extLst>
          </p:cNvPr>
          <p:cNvSpPr txBox="1"/>
          <p:nvPr/>
        </p:nvSpPr>
        <p:spPr>
          <a:xfrm>
            <a:off x="7048499" y="2917031"/>
            <a:ext cx="4682319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b="1"/>
              <a:t>   Maxilla                                   Mandible</a:t>
            </a:r>
          </a:p>
          <a:p>
            <a:endParaRPr lang="en-GB" b="1"/>
          </a:p>
          <a:p>
            <a:r>
              <a:rPr lang="en-GB" b="1"/>
              <a:t>Grade---&gt;0                              Grade---&gt;0</a:t>
            </a:r>
          </a:p>
        </p:txBody>
      </p:sp>
    </p:spTree>
    <p:extLst>
      <p:ext uri="{BB962C8B-B14F-4D97-AF65-F5344CB8AC3E}">
        <p14:creationId xmlns:p14="http://schemas.microsoft.com/office/powerpoint/2010/main" val="193338188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Wisp</vt:lpstr>
      <vt:lpstr>Gingival periodontal indexes </vt:lpstr>
      <vt:lpstr>Gingival periodontal indexes</vt:lpstr>
      <vt:lpstr>PowerPoint Presentation</vt:lpstr>
      <vt:lpstr>Gingival periodontal indexes </vt:lpstr>
      <vt:lpstr>Gingival periodontal indexes </vt:lpstr>
      <vt:lpstr>Gingival periodontal indexes </vt:lpstr>
      <vt:lpstr>Gingival periodontal indexes  </vt:lpstr>
      <vt:lpstr>Gingival periodontal indexes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50</cp:revision>
  <dcterms:created xsi:type="dcterms:W3CDTF">2026-05-21T13:41:42Z</dcterms:created>
  <dcterms:modified xsi:type="dcterms:W3CDTF">2026-05-21T13:52:11Z</dcterms:modified>
</cp:coreProperties>
</file>